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2545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0B2545"/>
                </a:solidFill>
                <a:latin typeface="Calibri"/>
              </a:rPr>
              <a:t>Retrieval, held-out MRR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MRR</c:v>
                </c:pt>
              </c:strCache>
            </c:strRef>
          </c:tx>
          <c:spPr>
            <a:solidFill>
              <a:srgbClr val="13A89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9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BM25</c:v>
                  </c:pt>
                  <c:pt idx="1">
                    <c:v>TF-IDF</c:v>
                  </c:pt>
                  <c:pt idx="2">
                    <c:v>MiniLM</c:v>
                  </c:pt>
                  <c:pt idx="3">
                    <c:v>BGE</c:v>
                  </c:pt>
                  <c:pt idx="4">
                    <c:v>Tuned hybrid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0.828</c:v>
                </c:pt>
                <c:pt idx="1">
                  <c:v>0.799</c:v>
                </c:pt>
                <c:pt idx="2">
                  <c:v>0.787</c:v>
                </c:pt>
                <c:pt idx="3">
                  <c:v>0.865</c:v>
                </c:pt>
                <c:pt idx="4">
                  <c:v>0.869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F29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6"/>
        </c:scaling>
        <c:delete val="0"/>
        <c:axPos val="l"/>
        <c:majorGridlines>
          <c:spPr>
            <a:ln w="6350" cap="flat">
              <a:solidFill>
                <a:srgbClr val="E1E8F0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2545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0B2545"/>
                </a:solidFill>
                <a:latin typeface="Calibri"/>
              </a:rPr>
              <a:t>Answerability, nested CV AUC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F4A259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9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Rule</c:v>
                  </c:pt>
                  <c:pt idx="1">
                    <c:v>Tree</c:v>
                  </c:pt>
                  <c:pt idx="2">
                    <c:v>LogReg</c:v>
                  </c:pt>
                  <c:pt idx="3">
                    <c:v>SVM</c:v>
                  </c:pt>
                  <c:pt idx="4">
                    <c:v>k-NN</c:v>
                  </c:pt>
                  <c:pt idx="5">
                    <c:v>Forest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0.8336</c:v>
                </c:pt>
                <c:pt idx="1">
                  <c:v>0.9637</c:v>
                </c:pt>
                <c:pt idx="2">
                  <c:v>0.9881</c:v>
                </c:pt>
                <c:pt idx="3">
                  <c:v>0.991</c:v>
                </c:pt>
                <c:pt idx="4">
                  <c:v>0.9919</c:v>
                </c:pt>
                <c:pt idx="5">
                  <c:v>0.9936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F29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7"/>
        </c:scaling>
        <c:delete val="0"/>
        <c:axPos val="l"/>
        <c:majorGridlines>
          <c:spPr>
            <a:ln w="6350" cap="flat">
              <a:solidFill>
                <a:srgbClr val="E1E8F0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project: a retrieval-augmented assistant for AUTOSAR HLD documents (Tata case study CS1). Everything runs locally; all data is synthetic.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 statement from the case study. The system is advisory: it never approves a design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Stack: Streamlit UI, FastAPI, PyMuPDF, BGE-small embeddings, ChromaDB, SQLite, scikit-learn model, Docker. Runs offline.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the EDA findings: wrapped-underscore artefacts fixed in preprocessing, OCR trigger corrected, class balance, correlated features.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equal-weight hybrid was worse than BGE alone, so the fusion weight was treated as a hyperparameter. PCA on embeddings lowered retrieval quality, so full 384 dimensions are kept.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honest: the model refuses a few answerable paraphrased questions and answers one unanswerable question about a real entity. Test sets are small and synthetic.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Layout/vocabulary bias is the relevant bias for this data; the intended failure mode is refusal, not a wrong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ready to explain every module in the left column and the AI-assisted modules too: you are accountable for all of it. Thank the audience and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3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CE7F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92240" y="-822960"/>
            <a:ext cx="4023360" cy="4023360"/>
          </a:xfrm>
          <a:prstGeom prst="ellipse">
            <a:avLst/>
          </a:prstGeom>
          <a:solidFill>
            <a:srgbClr val="13A89E">
              <a:alpha val="20000"/>
            </a:srgbClr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2651760"/>
            <a:ext cx="2377440" cy="2377440"/>
          </a:xfrm>
          <a:prstGeom prst="ellipse">
            <a:avLst/>
          </a:prstGeom>
          <a:solidFill>
            <a:srgbClr val="F4A259">
              <a:alpha val="18000"/>
            </a:srgbClr>
          </a:solidFill>
          <a:ln w="12700">
            <a:solidFill>
              <a:srgbClr val="F4A25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CS1  |  AUTOMOTIVE ENGINEERING AI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676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AUTOSAR HLD Intelligence &amp; Traceability Platform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4320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CE7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Evidence-grounded analysis of AUTOSAR High-Level Design documents: extraction, cited Q&amp;A, validation and revision comparison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7764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Aishwarya Manoj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DCE7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CB.SC.U4AIE23211  |  Amrita Vishwa Vidyapeetham</a:t>
            </a:r>
            <a:endParaRPr lang="en-US" sz="1400" dirty="0"/>
          </a:p>
        </p:txBody>
      </p:sp>
      <p:sp>
        <p:nvSpPr>
          <p:cNvPr id="9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CE7F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problem: HLDs are read by hand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512064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9525">
            <a:solidFill>
              <a:srgbClr val="DCE7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21792" y="1472184"/>
            <a:ext cx="420624" cy="420624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721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3258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Long, unstructured PDFs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6184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Components, interfaces, ports, signals and flows are buried in tables across hundreds of pages.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258568"/>
            <a:ext cx="512064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9525">
            <a:solidFill>
              <a:srgbClr val="DCE7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1792" y="2496312"/>
            <a:ext cx="420624" cy="420624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" y="2496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35000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Mismatches go unnoticed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264261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dependencies, wrong port directions and inconsistent names are found late.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282696"/>
            <a:ext cx="512064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9525">
            <a:solidFill>
              <a:srgbClr val="DCE7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1792" y="3520440"/>
            <a:ext cx="420624" cy="420624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" y="3520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37413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is hard to judge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66674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Reviewers cannot quickly see what a change touches or compare revisions.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852160" y="1234440"/>
            <a:ext cx="2834640" cy="3017520"/>
          </a:xfrm>
          <a:prstGeom prst="roundRect">
            <a:avLst>
              <a:gd name="adj" fmla="val 2581"/>
            </a:avLst>
          </a:prstGeom>
          <a:solidFill>
            <a:srgbClr val="0B2545"/>
          </a:solidFill>
          <a:ln w="9525">
            <a:solidFill>
              <a:srgbClr val="DCE7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080760" y="13716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A2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it is for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080760" y="1783080"/>
            <a:ext cx="2468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and AUTOSAR architects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developers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engineers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engineers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managers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35204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DCE7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 only: a human reviews every finding.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solution: an end-to-end pipeline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1517904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DCE7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66928" y="1325880"/>
            <a:ext cx="129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Upload PDF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691640"/>
            <a:ext cx="12984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validate, parse text and tables, OCR if scanned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956816" y="1783080"/>
            <a:ext cx="1965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A89E"/>
                </a:solidFill>
              </a:rPr>
              <a:t>&gt;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135124" y="1234440"/>
            <a:ext cx="1517904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DCE7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244852" y="1325880"/>
            <a:ext cx="129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244852" y="1691640"/>
            <a:ext cx="12984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components, interfaces, ports, signals, flows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634740" y="1783080"/>
            <a:ext cx="1965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A89E"/>
                </a:solidFill>
              </a:rPr>
              <a:t>&gt;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813048" y="1234440"/>
            <a:ext cx="1517904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DCE7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922776" y="1325880"/>
            <a:ext cx="129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Index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922776" y="1691640"/>
            <a:ext cx="12984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 embeddings in ChromaDB, plus BM25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312664" y="1783080"/>
            <a:ext cx="1965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A89E"/>
                </a:solidFill>
              </a:rPr>
              <a:t>&gt;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90972" y="1234440"/>
            <a:ext cx="1517904" cy="1417320"/>
          </a:xfrm>
          <a:prstGeom prst="roundRect">
            <a:avLst>
              <a:gd name="adj" fmla="val 5161"/>
            </a:avLst>
          </a:prstGeom>
          <a:solidFill>
            <a:srgbClr val="0B2545"/>
          </a:solidFill>
          <a:ln w="9525">
            <a:solidFill>
              <a:srgbClr val="DCE7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600700" y="1325880"/>
            <a:ext cx="129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2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Decide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600700" y="1691640"/>
            <a:ext cx="12984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model: answer or refuse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990588" y="1783080"/>
            <a:ext cx="1965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A89E"/>
                </a:solidFill>
              </a:rPr>
              <a:t>&gt;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168896" y="1234440"/>
            <a:ext cx="1517904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DCE7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278624" y="1325880"/>
            <a:ext cx="129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278624" y="1691640"/>
            <a:ext cx="12984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facts, confidence, human review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292608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CE7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94360" y="3063240"/>
            <a:ext cx="274320" cy="274320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34290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validation rules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373075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cross-table consistency with page evidence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542032" y="292608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CE7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2679192" y="3063240"/>
            <a:ext cx="274320" cy="274320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679192" y="34290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 comparison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679192" y="373075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 and change-impact between two HLDs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626864" y="292608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CE7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764024" y="3063240"/>
            <a:ext cx="274320" cy="274320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764024" y="34290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and export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4764024" y="373075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component reports, JSON and CSV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711696" y="292608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CE7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848856" y="3063240"/>
            <a:ext cx="274320" cy="274320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848856" y="34290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and audit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6848856" y="373075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roles, project isolation, audit log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Data: synthetic, split by document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1965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7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48640" y="132588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031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HLDs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395728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development, 3 held-out, sample + revision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542032" y="1234440"/>
            <a:ext cx="1965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7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633472" y="132588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528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2633472" y="21031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labelled questions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679192" y="2395728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answerable and unanswerable, balanced 50/50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26864" y="1234440"/>
            <a:ext cx="1965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7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718304" y="132588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4A2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203</a:t>
            </a:r>
            <a:endParaRPr lang="en-US" sz="4800" dirty="0"/>
          </a:p>
        </p:txBody>
      </p:sp>
      <p:sp>
        <p:nvSpPr>
          <p:cNvPr id="13" name="Text 11"/>
          <p:cNvSpPr txBox="1"/>
          <p:nvPr/>
        </p:nvSpPr>
        <p:spPr>
          <a:xfrm>
            <a:off x="4718304" y="21031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cells cleaned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764024" y="2395728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line-wrap artefacts found by EDA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711696" y="1234440"/>
            <a:ext cx="1965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7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803136" y="132588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800" dirty="0"/>
          </a:p>
        </p:txBody>
      </p:sp>
      <p:sp>
        <p:nvSpPr>
          <p:cNvPr id="17" name="Text 15"/>
          <p:cNvSpPr txBox="1"/>
          <p:nvPr/>
        </p:nvSpPr>
        <p:spPr>
          <a:xfrm>
            <a:off x="6803136" y="21031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in both sets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848856" y="2395728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leakage between train and test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29184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0B2545"/>
          </a:solidFill>
          <a:ln w="9525">
            <a:solidFill>
              <a:srgbClr val="DCE7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85800" y="338328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synthetic?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HLDs are confidential. Synthetic documents give exact ground truth and seeded defects. </a:t>
            </a:r>
            <a:pPr indent="0" marL="0">
              <a:buNone/>
            </a:pPr>
            <a:r>
              <a:rPr lang="en-US" sz="1400" dirty="0">
                <a:solidFill>
                  <a:srgbClr val="DCE7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Limit: one layout, so results show generalisation across domains, not real-world accuracy.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Choosing models with evidence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02336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9525">
            <a:solidFill>
              <a:srgbClr val="DCE7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graphicFrame>
        <p:nvGraphicFramePr>
          <p:cNvPr id="4" name="Chart 0" descr=""/>
          <p:cNvGraphicFramePr/>
          <p:nvPr/>
        </p:nvGraphicFramePr>
        <p:xfrm>
          <a:off x="548640" y="1234440"/>
          <a:ext cx="38404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4663440" y="1188720"/>
            <a:ext cx="402336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9525">
            <a:solidFill>
              <a:srgbClr val="DCE7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graphicFrame>
        <p:nvGraphicFramePr>
          <p:cNvPr id="6" name="Chart 1" descr=""/>
          <p:cNvGraphicFramePr/>
          <p:nvPr/>
        </p:nvGraphicFramePr>
        <p:xfrm>
          <a:off x="4754880" y="1234440"/>
          <a:ext cx="38404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weight tuned on development documents only. </a:t>
            </a:r>
            <a:pPr indent="0" marL="0"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classifier families compared with leave-one-document-out cross-validation; random forest selected.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on unseen documents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13315C"/>
          </a:solidFill>
          <a:ln w="9525">
            <a:solidFill>
              <a:srgbClr val="1F4A8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4A2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0.96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651760" y="1508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answerability F1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651760" y="1874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CE7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baseline 0.73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118872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13315C"/>
          </a:solidFill>
          <a:ln w="9525">
            <a:solidFill>
              <a:srgbClr val="1F4A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46320" y="132588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4A2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92%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1508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 correct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858000" y="1874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CE7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threshold 17%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74320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13315C"/>
          </a:solidFill>
          <a:ln w="9525">
            <a:solidFill>
              <a:srgbClr val="1F4A8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88036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4A2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</a:t>
            </a:r>
            <a:endParaRPr lang="en-US" sz="4800" dirty="0"/>
          </a:p>
        </p:txBody>
      </p:sp>
      <p:sp>
        <p:nvSpPr>
          <p:cNvPr id="13" name="Text 11"/>
          <p:cNvSpPr txBox="1"/>
          <p:nvPr/>
        </p:nvSpPr>
        <p:spPr>
          <a:xfrm>
            <a:off x="2651760" y="30632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F1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34290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CE7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fixes 0.83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274320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13315C"/>
          </a:solidFill>
          <a:ln w="9525">
            <a:solidFill>
              <a:srgbClr val="1F4A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46320" y="288036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4A2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36/36</a:t>
            </a:r>
            <a:endParaRPr lang="en-US" sz="48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30632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defects found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0" y="34290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CE7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false findings on clean docs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343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DCE7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hand-written questions: 89% overall, 88% of answerable ones answered. Small synthetic test sets.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CE7F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Responsible AI and MLOps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02336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CE7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325880"/>
            <a:ext cx="365760" cy="365760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298448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Responsible AI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87452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answer cites page and section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Refuses what the document cannot answer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confidence, human accept/reject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models, synthetic data only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Roles, project isolation, audit log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188720"/>
            <a:ext cx="402336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CE7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846320" y="1325880"/>
            <a:ext cx="365760" cy="365760"/>
          </a:xfrm>
          <a:prstGeom prst="ellipse">
            <a:avLst/>
          </a:prstGeom>
          <a:solidFill>
            <a:srgbClr val="F4A259"/>
          </a:solidFill>
          <a:ln w="12700">
            <a:solidFill>
              <a:srgbClr val="F4A25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349240" y="1298448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MLOps basics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87452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model with metadata and dataset hash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log and /version endpoint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image with embedding model baked in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CI: lint, tests, evaluation, Docker smoke test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Pinned dependencies, fixed seeds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 contribution, limits and next steps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9525">
            <a:solidFill>
              <a:srgbClr val="DCE7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85800" y="129844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built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3566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Foundation, ingestion and OCR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Section-aware chunking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extraction and deduplication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HLD generator and tests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direction and review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337560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Retrieval, ML experiments, UI, security and deployment were built with AI assistance (Claude Code) under my direction and review.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11887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0B2545"/>
          </a:solidFill>
          <a:ln w="9525">
            <a:solidFill>
              <a:srgbClr val="DCE7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892040" y="129844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A2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892040" y="169164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data, one layout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test sets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LLM and real scans not evaluated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28346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A2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320040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on real HLD layouts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absent attributes in evidence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a local LLM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AUTOSAR HLD Intelligence &amp; Traceability Platform</dc:title>
  <dc:subject>PptxGenJS Presentation</dc:subject>
  <dc:creator>Aishwarya Manoj</dc:creator>
  <cp:lastModifiedBy>Aishwarya Manoj</cp:lastModifiedBy>
  <cp:revision>1</cp:revision>
  <dcterms:created xsi:type="dcterms:W3CDTF">2026-10-07T11:07:03Z</dcterms:created>
  <dcterms:modified xsi:type="dcterms:W3CDTF">2026-10-07T11:07:03Z</dcterms:modified>
</cp:coreProperties>
</file>